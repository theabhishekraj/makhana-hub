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partners. Today we present an opportunity to organize the GI-tagged makhana sector of Bihar. By combining the field-cultivation technology of ICAR-NRC Darbhanga with a modern, high-value value-add supply chain, we are unlocking massive margins in a premium global superfood segment.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Traditional pond harvesting is physically dangerous, causing severe respiratory and skin infections for Mallah divers. Unorganized trade strips local farmers of their fair share, while poor post-harvest handling leads to degraded seed quality and poor popping expansion.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introducing a dual solution: we move cultivation into shallow agricultural fields, saving labor and water, and we set up decentralized primary processing centers. In Year 1, we bootstrap operations by outsourcing popping to traditional manual clusters before moving to fully automated lines.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Developed by ICAR-NRC Makhana, Swarna Vaidehi doubles traditional yield. The optimized shallow field-based environment requires 80% less water. Precision secondary nutrients (S, Zn, Mg, B) ensure thick, durable seed shells, yielding high popping volumes.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setting up direct procurement centers in Darbhanga, Madhubani, and Purnia, we control raw seed quality at the farm-gate. Uniform mechanical sizing prevents roasted seeds from burning, ensuring a premium puffed product.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Instead of selling raw commodities, we process broken makhana into specialized high-margin products. Micronized flour cookies and low-GI pasta tap into the massive global wellness boom, delivering net margins exceeding 50%.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financial model is highly resilient. In Year 1, we avoid high equipment costs by leveraging traditional manual popping clusters. A 30-ton processing volume alone generates over ₹9.4 Lakhs in net profit, which when combined with our 1-Ha self-cultivation delivers ₹12.4 Lakhs in aggregate gains.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 lean. Once our direct farm sourcing and distribution lines are fully validated in Years 1 and 2, we will leverage bank debt and subsidies to install an automated 5-ton/day plant. This will cut processing costs by 45% and scale output dramatically.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Climate risk is mitigated through off-grid solar water pumps and high perimeter bunds lined with heavy clay. Integrated biological pest control (Trichoderma and botanical sprays) protects the crop while keeping it chemical-residue free.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integrating with the Bihar Bazar digital platform, we bring transparency to farm-gate transactions. Farmers use voice and SMS to lock in purchase prices, bypassing traditional middleman networks entirely.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fully aligned with the central government's food processing push. We leverage PMFME capital grants and central interest subventions to lower our borrowing costs, accelerating shareholder equity returns.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seeking ₹50 Lakhs to transition into our mechanized scaling phase. We offer a high project IRR of 38.6% and a quick 2.4-year payback, coupled with a deep social impact story. Join us in scaling Bihar's white gold.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51A"/>
        </a:solidFill>
        <a:effectLst/>
      </p:bgPr>
    </p:bg>
    <p:spTree>
      <p:nvGrpSpPr>
        <p:cNvPr id="1" name=""/>
        <p:cNvGrpSpPr/>
        <p:nvPr/>
      </p:nvGrpSpPr>
      <p:grpSpPr/>
      <p:sp>
        <p:nvSpPr>
          <p:cNvPr id="2" name="TextBox 1"/>
          <p:cNvSpPr txBox="1"/>
          <p:nvPr/>
        </p:nvSpPr>
        <p:spPr>
          <a:xfrm>
            <a:off x="457200" y="365760"/>
            <a:ext cx="7315200" cy="457200"/>
          </a:xfrm>
          <a:prstGeom prst="rect">
            <a:avLst/>
          </a:prstGeom>
          <a:noFill/>
        </p:spPr>
        <p:txBody>
          <a:bodyPr wrap="none">
            <a:spAutoFit/>
          </a:bodyPr>
          <a:lstStyle/>
          <a:p>
            <a:pPr>
              <a:defRPr sz="1100" b="1">
                <a:solidFill>
                  <a:srgbClr val="F5CB5C"/>
                </a:solidFill>
                <a:latin typeface="Segoe UI"/>
              </a:defRPr>
            </a:pPr>
            <a:r>
              <a:t>SLIDE 1 : INTRODUCTION</a:t>
            </a:r>
          </a:p>
        </p:txBody>
      </p:sp>
      <p:sp>
        <p:nvSpPr>
          <p:cNvPr id="3" name="TextBox 2"/>
          <p:cNvSpPr txBox="1"/>
          <p:nvPr/>
        </p:nvSpPr>
        <p:spPr>
          <a:xfrm>
            <a:off x="457200" y="731520"/>
            <a:ext cx="10972800" cy="731520"/>
          </a:xfrm>
          <a:prstGeom prst="rect">
            <a:avLst/>
          </a:prstGeom>
          <a:noFill/>
        </p:spPr>
        <p:txBody>
          <a:bodyPr wrap="square">
            <a:spAutoFit/>
          </a:bodyPr>
          <a:lstStyle/>
          <a:p>
            <a:pPr>
              <a:defRPr sz="3600" b="1">
                <a:solidFill>
                  <a:srgbClr val="FFFFFF"/>
                </a:solidFill>
                <a:latin typeface="Segoe UI"/>
              </a:defRPr>
            </a:pPr>
            <a:r>
              <a:t>The Swarna Vaidehi Revolution</a:t>
            </a:r>
          </a:p>
        </p:txBody>
      </p:sp>
      <p:sp>
        <p:nvSpPr>
          <p:cNvPr id="4" name="TextBox 3"/>
          <p:cNvSpPr txBox="1"/>
          <p:nvPr/>
        </p:nvSpPr>
        <p:spPr>
          <a:xfrm>
            <a:off x="457200" y="1463040"/>
            <a:ext cx="10972800" cy="457200"/>
          </a:xfrm>
          <a:prstGeom prst="rect">
            <a:avLst/>
          </a:prstGeom>
          <a:noFill/>
        </p:spPr>
        <p:txBody>
          <a:bodyPr wrap="none">
            <a:spAutoFit/>
          </a:bodyPr>
          <a:lstStyle/>
          <a:p>
            <a:pPr>
              <a:defRPr sz="1600" i="1">
                <a:solidFill>
                  <a:srgbClr val="F5CB5C"/>
                </a:solidFill>
                <a:latin typeface="Segoe UI"/>
              </a:defRPr>
            </a:pPr>
            <a:r>
              <a:t>Building a World-Class Makhana Processing Hub in North Bihar</a:t>
            </a:r>
          </a:p>
        </p:txBody>
      </p:sp>
      <p:sp>
        <p:nvSpPr>
          <p:cNvPr id="5" name="TextBox 4"/>
          <p:cNvSpPr txBox="1"/>
          <p:nvPr/>
        </p:nvSpPr>
        <p:spPr>
          <a:xfrm>
            <a:off x="640080" y="2103120"/>
            <a:ext cx="10515600" cy="4114800"/>
          </a:xfrm>
          <a:prstGeom prst="rect">
            <a:avLst/>
          </a:prstGeom>
          <a:noFill/>
        </p:spPr>
        <p:txBody>
          <a:bodyPr wrap="square">
            <a:spAutoFit/>
          </a:bodyPr>
          <a:lstStyle/>
          <a:p>
            <a:pPr>
              <a:spcAft>
                <a:spcPts val="1600"/>
              </a:spcAft>
              <a:defRPr sz="1800">
                <a:solidFill>
                  <a:srgbClr val="DCE1DE"/>
                </a:solidFill>
                <a:latin typeface="Segoe UI"/>
              </a:defRPr>
            </a:pPr>
            <a:r>
              <a:t>•  Strategic Vision: Scaling Euryale ferox (Makhana) sector of Bihar.</a:t>
            </a:r>
          </a:p>
          <a:p>
            <a:pPr>
              <a:spcAft>
                <a:spcPts val="1600"/>
              </a:spcAft>
              <a:defRPr sz="1800">
                <a:solidFill>
                  <a:srgbClr val="DCE1DE"/>
                </a:solidFill>
                <a:latin typeface="Segoe UI"/>
              </a:defRPr>
            </a:pPr>
            <a:r>
              <a:t>•  Agronomy Foundation: Shallow-field elite variety developed by ICAR-NRC Makhana.</a:t>
            </a:r>
          </a:p>
          <a:p>
            <a:pPr>
              <a:spcAft>
                <a:spcPts val="1600"/>
              </a:spcAft>
              <a:defRPr sz="1800">
                <a:solidFill>
                  <a:srgbClr val="DCE1DE"/>
                </a:solidFill>
                <a:latin typeface="Segoe UI"/>
              </a:defRPr>
            </a:pPr>
            <a:r>
              <a:t>•  CVRC Notified Variety: Released on 15.11.2013, notified on 30.07.2022.</a:t>
            </a:r>
          </a:p>
          <a:p>
            <a:pPr>
              <a:spcAft>
                <a:spcPts val="1600"/>
              </a:spcAft>
              <a:defRPr sz="1800">
                <a:solidFill>
                  <a:srgbClr val="DCE1DE"/>
                </a:solidFill>
                <a:latin typeface="Segoe UI"/>
              </a:defRPr>
            </a:pPr>
            <a:r>
              <a:t>•  Digital Link: Fully integrated with the Bihar Bazar platform (bihar-bazaar.vercel.app).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51A"/>
        </a:solidFill>
        <a:effectLst/>
      </p:bgPr>
    </p:bg>
    <p:spTree>
      <p:nvGrpSpPr>
        <p:cNvPr id="1" name=""/>
        <p:cNvGrpSpPr/>
        <p:nvPr/>
      </p:nvGrpSpPr>
      <p:grpSpPr/>
      <p:sp>
        <p:nvSpPr>
          <p:cNvPr id="2" name="TextBox 1"/>
          <p:cNvSpPr txBox="1"/>
          <p:nvPr/>
        </p:nvSpPr>
        <p:spPr>
          <a:xfrm>
            <a:off x="457200" y="365760"/>
            <a:ext cx="7315200" cy="457200"/>
          </a:xfrm>
          <a:prstGeom prst="rect">
            <a:avLst/>
          </a:prstGeom>
          <a:noFill/>
        </p:spPr>
        <p:txBody>
          <a:bodyPr wrap="none">
            <a:spAutoFit/>
          </a:bodyPr>
          <a:lstStyle/>
          <a:p>
            <a:pPr>
              <a:defRPr sz="1100" b="1">
                <a:solidFill>
                  <a:srgbClr val="F5CB5C"/>
                </a:solidFill>
                <a:latin typeface="Segoe UI"/>
              </a:defRPr>
            </a:pPr>
            <a:r>
              <a:t>SLIDE 2 : THE CORE PROBLEM</a:t>
            </a:r>
          </a:p>
        </p:txBody>
      </p:sp>
      <p:sp>
        <p:nvSpPr>
          <p:cNvPr id="3" name="TextBox 2"/>
          <p:cNvSpPr txBox="1"/>
          <p:nvPr/>
        </p:nvSpPr>
        <p:spPr>
          <a:xfrm>
            <a:off x="457200" y="731520"/>
            <a:ext cx="10972800" cy="731520"/>
          </a:xfrm>
          <a:prstGeom prst="rect">
            <a:avLst/>
          </a:prstGeom>
          <a:noFill/>
        </p:spPr>
        <p:txBody>
          <a:bodyPr wrap="square">
            <a:spAutoFit/>
          </a:bodyPr>
          <a:lstStyle/>
          <a:p>
            <a:pPr>
              <a:defRPr sz="3600" b="1">
                <a:solidFill>
                  <a:srgbClr val="FFFFFF"/>
                </a:solidFill>
                <a:latin typeface="Segoe UI"/>
              </a:defRPr>
            </a:pPr>
            <a:r>
              <a:t>Primitive Harvesting &amp; Inefficient Supply Chains</a:t>
            </a:r>
          </a:p>
        </p:txBody>
      </p:sp>
      <p:sp>
        <p:nvSpPr>
          <p:cNvPr id="4" name="TextBox 3"/>
          <p:cNvSpPr txBox="1"/>
          <p:nvPr/>
        </p:nvSpPr>
        <p:spPr>
          <a:xfrm>
            <a:off x="457200" y="1463040"/>
            <a:ext cx="10972800" cy="457200"/>
          </a:xfrm>
          <a:prstGeom prst="rect">
            <a:avLst/>
          </a:prstGeom>
          <a:noFill/>
        </p:spPr>
        <p:txBody>
          <a:bodyPr wrap="none">
            <a:spAutoFit/>
          </a:bodyPr>
          <a:lstStyle/>
          <a:p>
            <a:pPr>
              <a:defRPr sz="1600" i="1">
                <a:solidFill>
                  <a:srgbClr val="F5CB5C"/>
                </a:solidFill>
                <a:latin typeface="Segoe UI"/>
              </a:defRPr>
            </a:pPr>
            <a:r>
              <a:t>Severe physical labor bottlenecks and structural value loss</a:t>
            </a:r>
          </a:p>
        </p:txBody>
      </p:sp>
      <p:sp>
        <p:nvSpPr>
          <p:cNvPr id="5" name="TextBox 4"/>
          <p:cNvSpPr txBox="1"/>
          <p:nvPr/>
        </p:nvSpPr>
        <p:spPr>
          <a:xfrm>
            <a:off x="640080" y="2103120"/>
            <a:ext cx="10515600" cy="4114800"/>
          </a:xfrm>
          <a:prstGeom prst="rect">
            <a:avLst/>
          </a:prstGeom>
          <a:noFill/>
        </p:spPr>
        <p:txBody>
          <a:bodyPr wrap="square">
            <a:spAutoFit/>
          </a:bodyPr>
          <a:lstStyle/>
          <a:p>
            <a:pPr>
              <a:spcAft>
                <a:spcPts val="1600"/>
              </a:spcAft>
              <a:defRPr sz="1800">
                <a:solidFill>
                  <a:srgbClr val="DCE1DE"/>
                </a:solidFill>
                <a:latin typeface="Segoe UI"/>
              </a:defRPr>
            </a:pPr>
            <a:r>
              <a:t>•  Extreme Physical Danger: Traditional harvesting requires deep pond diving (1.5-2.0m depth).</a:t>
            </a:r>
          </a:p>
          <a:p>
            <a:pPr>
              <a:spcAft>
                <a:spcPts val="1600"/>
              </a:spcAft>
              <a:defRPr sz="1800">
                <a:solidFill>
                  <a:srgbClr val="DCE1DE"/>
                </a:solidFill>
                <a:latin typeface="Segoe UI"/>
              </a:defRPr>
            </a:pPr>
            <a:r>
              <a:t>•  High Waste Sourcing: Traditional seed rate is a high 90 kg/ha with massive post-harvest mold.</a:t>
            </a:r>
          </a:p>
          <a:p>
            <a:pPr>
              <a:spcAft>
                <a:spcPts val="1600"/>
              </a:spcAft>
              <a:defRPr sz="1800">
                <a:solidFill>
                  <a:srgbClr val="DCE1DE"/>
                </a:solidFill>
                <a:latin typeface="Segoe UI"/>
              </a:defRPr>
            </a:pPr>
            <a:r>
              <a:t>•  Middleman Exploitation: Traditional 'Arhatiyas' capture up to 60% of farm-gate value.</a:t>
            </a:r>
          </a:p>
          <a:p>
            <a:pPr>
              <a:spcAft>
                <a:spcPts val="1600"/>
              </a:spcAft>
              <a:defRPr sz="1800">
                <a:solidFill>
                  <a:srgbClr val="DCE1DE"/>
                </a:solidFill>
                <a:latin typeface="Segoe UI"/>
              </a:defRPr>
            </a:pPr>
            <a:r>
              <a:t>•  Manual Popping Bottlenecks: Primitive manual popping is slow and restricts volume, limiting value-add scaling.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251A"/>
        </a:solidFill>
        <a:effectLst/>
      </p:bgPr>
    </p:bg>
    <p:spTree>
      <p:nvGrpSpPr>
        <p:cNvPr id="1" name=""/>
        <p:cNvGrpSpPr/>
        <p:nvPr/>
      </p:nvGrpSpPr>
      <p:grpSpPr/>
      <p:sp>
        <p:nvSpPr>
          <p:cNvPr id="2" name="TextBox 1"/>
          <p:cNvSpPr txBox="1"/>
          <p:nvPr/>
        </p:nvSpPr>
        <p:spPr>
          <a:xfrm>
            <a:off x="457200" y="365760"/>
            <a:ext cx="7315200" cy="457200"/>
          </a:xfrm>
          <a:prstGeom prst="rect">
            <a:avLst/>
          </a:prstGeom>
          <a:noFill/>
        </p:spPr>
        <p:txBody>
          <a:bodyPr wrap="none">
            <a:spAutoFit/>
          </a:bodyPr>
          <a:lstStyle/>
          <a:p>
            <a:pPr>
              <a:defRPr sz="1100" b="1">
                <a:solidFill>
                  <a:srgbClr val="F5CB5C"/>
                </a:solidFill>
                <a:latin typeface="Segoe UI"/>
              </a:defRPr>
            </a:pPr>
            <a:r>
              <a:t>SLIDE 3 : THE SCALABLE SOLUTION</a:t>
            </a:r>
          </a:p>
        </p:txBody>
      </p:sp>
      <p:sp>
        <p:nvSpPr>
          <p:cNvPr id="3" name="TextBox 2"/>
          <p:cNvSpPr txBox="1"/>
          <p:nvPr/>
        </p:nvSpPr>
        <p:spPr>
          <a:xfrm>
            <a:off x="457200" y="731520"/>
            <a:ext cx="10972800" cy="731520"/>
          </a:xfrm>
          <a:prstGeom prst="rect">
            <a:avLst/>
          </a:prstGeom>
          <a:noFill/>
        </p:spPr>
        <p:txBody>
          <a:bodyPr wrap="square">
            <a:spAutoFit/>
          </a:bodyPr>
          <a:lstStyle/>
          <a:p>
            <a:pPr>
              <a:defRPr sz="3600" b="1">
                <a:solidFill>
                  <a:srgbClr val="FFFFFF"/>
                </a:solidFill>
                <a:latin typeface="Segoe UI"/>
              </a:defRPr>
            </a:pPr>
            <a:r>
              <a:t>The Integrated Makhana Hub Ecosystem</a:t>
            </a:r>
          </a:p>
        </p:txBody>
      </p:sp>
      <p:sp>
        <p:nvSpPr>
          <p:cNvPr id="4" name="TextBox 3"/>
          <p:cNvSpPr txBox="1"/>
          <p:nvPr/>
        </p:nvSpPr>
        <p:spPr>
          <a:xfrm>
            <a:off x="457200" y="1463040"/>
            <a:ext cx="10972800" cy="457200"/>
          </a:xfrm>
          <a:prstGeom prst="rect">
            <a:avLst/>
          </a:prstGeom>
          <a:noFill/>
        </p:spPr>
        <p:txBody>
          <a:bodyPr wrap="none">
            <a:spAutoFit/>
          </a:bodyPr>
          <a:lstStyle/>
          <a:p>
            <a:pPr>
              <a:defRPr sz="1600" i="1">
                <a:solidFill>
                  <a:srgbClr val="F5CB5C"/>
                </a:solidFill>
                <a:latin typeface="Segoe UI"/>
              </a:defRPr>
            </a:pPr>
            <a:r>
              <a:t>Re-engineering harvesting safety and product logistics</a:t>
            </a:r>
          </a:p>
        </p:txBody>
      </p:sp>
      <p:sp>
        <p:nvSpPr>
          <p:cNvPr id="5" name="TextBox 4"/>
          <p:cNvSpPr txBox="1"/>
          <p:nvPr/>
        </p:nvSpPr>
        <p:spPr>
          <a:xfrm>
            <a:off x="640080" y="2103120"/>
            <a:ext cx="10515600" cy="4114800"/>
          </a:xfrm>
          <a:prstGeom prst="rect">
            <a:avLst/>
          </a:prstGeom>
          <a:noFill/>
        </p:spPr>
        <p:txBody>
          <a:bodyPr wrap="square">
            <a:spAutoFit/>
          </a:bodyPr>
          <a:lstStyle/>
          <a:p>
            <a:pPr>
              <a:spcAft>
                <a:spcPts val="1600"/>
              </a:spcAft>
              <a:defRPr sz="1800">
                <a:solidFill>
                  <a:srgbClr val="DCE1DE"/>
                </a:solidFill>
                <a:latin typeface="Segoe UI"/>
              </a:defRPr>
            </a:pPr>
            <a:r>
              <a:t>•  Field-Based Transition: Safe, shallow field bunding (30-45 cm depth) replaces deep ponds.</a:t>
            </a:r>
          </a:p>
          <a:p>
            <a:pPr>
              <a:spcAft>
                <a:spcPts val="1600"/>
              </a:spcAft>
              <a:defRPr sz="1800">
                <a:solidFill>
                  <a:srgbClr val="DCE1DE"/>
                </a:solidFill>
                <a:latin typeface="Segoe UI"/>
              </a:defRPr>
            </a:pPr>
            <a:r>
              <a:t>•  Slashed Sowing Seed Rate: Seed rate cut from 90 kg/ha down to 20 kg/ha via nursery setups.</a:t>
            </a:r>
          </a:p>
          <a:p>
            <a:pPr>
              <a:spcAft>
                <a:spcPts val="1600"/>
              </a:spcAft>
              <a:defRPr sz="1800">
                <a:solidFill>
                  <a:srgbClr val="DCE1DE"/>
                </a:solidFill>
                <a:latin typeface="Segoe UI"/>
              </a:defRPr>
            </a:pPr>
            <a:r>
              <a:t>•  Decentralized Popping Network: Zero machinery CAPEX in Year 1 using traditional popping clusters.</a:t>
            </a:r>
          </a:p>
          <a:p>
            <a:pPr>
              <a:spcAft>
                <a:spcPts val="1600"/>
              </a:spcAft>
              <a:defRPr sz="1800">
                <a:solidFill>
                  <a:srgbClr val="DCE1DE"/>
                </a:solidFill>
                <a:latin typeface="Segoe UI"/>
              </a:defRPr>
            </a:pPr>
            <a:r>
              <a:t>•  Value-Added Nutrition: Grinding phulla into weaning baby food and making premium gluten-free cookies.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251A"/>
        </a:solidFill>
        <a:effectLst/>
      </p:bgPr>
    </p:bg>
    <p:spTree>
      <p:nvGrpSpPr>
        <p:cNvPr id="1" name=""/>
        <p:cNvGrpSpPr/>
        <p:nvPr/>
      </p:nvGrpSpPr>
      <p:grpSpPr/>
      <p:sp>
        <p:nvSpPr>
          <p:cNvPr id="2" name="TextBox 1"/>
          <p:cNvSpPr txBox="1"/>
          <p:nvPr/>
        </p:nvSpPr>
        <p:spPr>
          <a:xfrm>
            <a:off x="457200" y="365760"/>
            <a:ext cx="7315200" cy="457200"/>
          </a:xfrm>
          <a:prstGeom prst="rect">
            <a:avLst/>
          </a:prstGeom>
          <a:noFill/>
        </p:spPr>
        <p:txBody>
          <a:bodyPr wrap="none">
            <a:spAutoFit/>
          </a:bodyPr>
          <a:lstStyle/>
          <a:p>
            <a:pPr>
              <a:defRPr sz="1100" b="1">
                <a:solidFill>
                  <a:srgbClr val="F5CB5C"/>
                </a:solidFill>
                <a:latin typeface="Segoe UI"/>
              </a:defRPr>
            </a:pPr>
            <a:r>
              <a:t>SLIDE 4 : SCIENTIFIC SUPERIORITY</a:t>
            </a:r>
          </a:p>
        </p:txBody>
      </p:sp>
      <p:sp>
        <p:nvSpPr>
          <p:cNvPr id="3" name="TextBox 2"/>
          <p:cNvSpPr txBox="1"/>
          <p:nvPr/>
        </p:nvSpPr>
        <p:spPr>
          <a:xfrm>
            <a:off x="457200" y="731520"/>
            <a:ext cx="10972800" cy="731520"/>
          </a:xfrm>
          <a:prstGeom prst="rect">
            <a:avLst/>
          </a:prstGeom>
          <a:noFill/>
        </p:spPr>
        <p:txBody>
          <a:bodyPr wrap="square">
            <a:spAutoFit/>
          </a:bodyPr>
          <a:lstStyle/>
          <a:p>
            <a:pPr>
              <a:defRPr sz="3600" b="1">
                <a:solidFill>
                  <a:srgbClr val="FFFFFF"/>
                </a:solidFill>
                <a:latin typeface="Segoe UI"/>
              </a:defRPr>
            </a:pPr>
            <a:r>
              <a:t>Agronomy of 'Swarna Vaidehi' Variety</a:t>
            </a:r>
          </a:p>
        </p:txBody>
      </p:sp>
      <p:sp>
        <p:nvSpPr>
          <p:cNvPr id="4" name="TextBox 3"/>
          <p:cNvSpPr txBox="1"/>
          <p:nvPr/>
        </p:nvSpPr>
        <p:spPr>
          <a:xfrm>
            <a:off x="457200" y="1463040"/>
            <a:ext cx="10972800" cy="457200"/>
          </a:xfrm>
          <a:prstGeom prst="rect">
            <a:avLst/>
          </a:prstGeom>
          <a:noFill/>
        </p:spPr>
        <p:txBody>
          <a:bodyPr wrap="none">
            <a:spAutoFit/>
          </a:bodyPr>
          <a:lstStyle/>
          <a:p>
            <a:pPr>
              <a:defRPr sz="1600" i="1">
                <a:solidFill>
                  <a:srgbClr val="F5CB5C"/>
                </a:solidFill>
                <a:latin typeface="Segoe UI"/>
              </a:defRPr>
            </a:pPr>
            <a:r>
              <a:t>Breakthrough field performance and water conservation</a:t>
            </a:r>
          </a:p>
        </p:txBody>
      </p:sp>
      <p:sp>
        <p:nvSpPr>
          <p:cNvPr id="5" name="TextBox 4"/>
          <p:cNvSpPr txBox="1"/>
          <p:nvPr/>
        </p:nvSpPr>
        <p:spPr>
          <a:xfrm>
            <a:off x="640080" y="2103120"/>
            <a:ext cx="10515600" cy="4114800"/>
          </a:xfrm>
          <a:prstGeom prst="rect">
            <a:avLst/>
          </a:prstGeom>
          <a:noFill/>
        </p:spPr>
        <p:txBody>
          <a:bodyPr wrap="square">
            <a:spAutoFit/>
          </a:bodyPr>
          <a:lstStyle/>
          <a:p>
            <a:pPr>
              <a:spcAft>
                <a:spcPts val="1600"/>
              </a:spcAft>
              <a:defRPr sz="1800">
                <a:solidFill>
                  <a:srgbClr val="DCE1DE"/>
                </a:solidFill>
                <a:latin typeface="Segoe UI"/>
              </a:defRPr>
            </a:pPr>
            <a:r>
              <a:t>•  Unprecedented Yield: 3.0 - 3.5 Tons / Ha (Average 25 q/ha) compared to pond average of 1.4 Tons.</a:t>
            </a:r>
          </a:p>
          <a:p>
            <a:pPr>
              <a:spcAft>
                <a:spcPts val="1600"/>
              </a:spcAft>
              <a:defRPr sz="1800">
                <a:solidFill>
                  <a:srgbClr val="DCE1DE"/>
                </a:solidFill>
                <a:latin typeface="Segoe UI"/>
              </a:defRPr>
            </a:pPr>
            <a:r>
              <a:t>•  Nursery Bed Sowing: Nov-March with nursery area of 500 m²/ha. Transplanting in Feb at 1.20m spacing.</a:t>
            </a:r>
          </a:p>
          <a:p>
            <a:pPr>
              <a:spcAft>
                <a:spcPts val="1600"/>
              </a:spcAft>
              <a:defRPr sz="1800">
                <a:solidFill>
                  <a:srgbClr val="DCE1DE"/>
                </a:solidFill>
                <a:latin typeface="Segoe UI"/>
              </a:defRPr>
            </a:pPr>
            <a:r>
              <a:t>•  Nutrient Regimen: 100:60:40 NPK kg/ha + 10 t/ha FYM + 5 kg/ha Zn, Mg, B micronutrient setup.</a:t>
            </a:r>
          </a:p>
          <a:p>
            <a:pPr>
              <a:spcAft>
                <a:spcPts val="1600"/>
              </a:spcAft>
              <a:defRPr sz="1800">
                <a:solidFill>
                  <a:srgbClr val="DCE1DE"/>
                </a:solidFill>
                <a:latin typeface="Segoe UI"/>
              </a:defRPr>
            </a:pPr>
            <a:r>
              <a:t>•  Foliar Micronutrients: Sprays of 0.1% CuSO4 solution significantly boost shell thickness.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251A"/>
        </a:solidFill>
        <a:effectLst/>
      </p:bgPr>
    </p:bg>
    <p:spTree>
      <p:nvGrpSpPr>
        <p:cNvPr id="1" name=""/>
        <p:cNvGrpSpPr/>
        <p:nvPr/>
      </p:nvGrpSpPr>
      <p:grpSpPr/>
      <p:sp>
        <p:nvSpPr>
          <p:cNvPr id="2" name="TextBox 1"/>
          <p:cNvSpPr txBox="1"/>
          <p:nvPr/>
        </p:nvSpPr>
        <p:spPr>
          <a:xfrm>
            <a:off x="457200" y="365760"/>
            <a:ext cx="7315200" cy="457200"/>
          </a:xfrm>
          <a:prstGeom prst="rect">
            <a:avLst/>
          </a:prstGeom>
          <a:noFill/>
        </p:spPr>
        <p:txBody>
          <a:bodyPr wrap="none">
            <a:spAutoFit/>
          </a:bodyPr>
          <a:lstStyle/>
          <a:p>
            <a:pPr>
              <a:defRPr sz="1100" b="1">
                <a:solidFill>
                  <a:srgbClr val="F5CB5C"/>
                </a:solidFill>
                <a:latin typeface="Segoe UI"/>
              </a:defRPr>
            </a:pPr>
            <a:r>
              <a:t>SLIDE 5 : PROCUREMENT &amp; QUALITY CONTROL</a:t>
            </a:r>
          </a:p>
        </p:txBody>
      </p:sp>
      <p:sp>
        <p:nvSpPr>
          <p:cNvPr id="3" name="TextBox 2"/>
          <p:cNvSpPr txBox="1"/>
          <p:nvPr/>
        </p:nvSpPr>
        <p:spPr>
          <a:xfrm>
            <a:off x="457200" y="731520"/>
            <a:ext cx="10972800" cy="731520"/>
          </a:xfrm>
          <a:prstGeom prst="rect">
            <a:avLst/>
          </a:prstGeom>
          <a:noFill/>
        </p:spPr>
        <p:txBody>
          <a:bodyPr wrap="square">
            <a:spAutoFit/>
          </a:bodyPr>
          <a:lstStyle/>
          <a:p>
            <a:pPr>
              <a:defRPr sz="3600" b="1">
                <a:solidFill>
                  <a:srgbClr val="FFFFFF"/>
                </a:solidFill>
                <a:latin typeface="Segoe UI"/>
              </a:defRPr>
            </a:pPr>
            <a:r>
              <a:t>Distributed Sourcing &amp; Grading Logistics</a:t>
            </a:r>
          </a:p>
        </p:txBody>
      </p:sp>
      <p:sp>
        <p:nvSpPr>
          <p:cNvPr id="4" name="TextBox 3"/>
          <p:cNvSpPr txBox="1"/>
          <p:nvPr/>
        </p:nvSpPr>
        <p:spPr>
          <a:xfrm>
            <a:off x="457200" y="1463040"/>
            <a:ext cx="10972800" cy="457200"/>
          </a:xfrm>
          <a:prstGeom prst="rect">
            <a:avLst/>
          </a:prstGeom>
          <a:noFill/>
        </p:spPr>
        <p:txBody>
          <a:bodyPr wrap="none">
            <a:spAutoFit/>
          </a:bodyPr>
          <a:lstStyle/>
          <a:p>
            <a:pPr>
              <a:defRPr sz="1600" i="1">
                <a:solidFill>
                  <a:srgbClr val="F5CB5C"/>
                </a:solidFill>
                <a:latin typeface="Segoe UI"/>
              </a:defRPr>
            </a:pPr>
            <a:r>
              <a:t>Eliminating middleman leakages through digital collection points</a:t>
            </a:r>
          </a:p>
        </p:txBody>
      </p:sp>
      <p:sp>
        <p:nvSpPr>
          <p:cNvPr id="5" name="TextBox 4"/>
          <p:cNvSpPr txBox="1"/>
          <p:nvPr/>
        </p:nvSpPr>
        <p:spPr>
          <a:xfrm>
            <a:off x="640080" y="2103120"/>
            <a:ext cx="10515600" cy="4114800"/>
          </a:xfrm>
          <a:prstGeom prst="rect">
            <a:avLst/>
          </a:prstGeom>
          <a:noFill/>
        </p:spPr>
        <p:txBody>
          <a:bodyPr wrap="square">
            <a:spAutoFit/>
          </a:bodyPr>
          <a:lstStyle/>
          <a:p>
            <a:pPr>
              <a:spcAft>
                <a:spcPts val="1600"/>
              </a:spcAft>
              <a:defRPr sz="1800">
                <a:solidFill>
                  <a:srgbClr val="DCE1DE"/>
                </a:solidFill>
                <a:latin typeface="Segoe UI"/>
              </a:defRPr>
            </a:pPr>
            <a:r>
              <a:t>•  Strategic Sourcing Nodes: Darbhanga (Center), Madhubani (North), and Purnia (East).</a:t>
            </a:r>
          </a:p>
          <a:p>
            <a:pPr>
              <a:spcAft>
                <a:spcPts val="1600"/>
              </a:spcAft>
              <a:defRPr sz="1800">
                <a:solidFill>
                  <a:srgbClr val="DCE1DE"/>
                </a:solidFill>
                <a:latin typeface="Segoe UI"/>
              </a:defRPr>
            </a:pPr>
            <a:r>
              <a:t>•  HDPE Pre-Drying: Washing and sun-drying on 250 GSM sheets to reduce moisture from 28% to 12-14%.</a:t>
            </a:r>
          </a:p>
          <a:p>
            <a:pPr>
              <a:spcAft>
                <a:spcPts val="1600"/>
              </a:spcAft>
              <a:defRPr sz="1800">
                <a:solidFill>
                  <a:srgbClr val="DCE1DE"/>
                </a:solidFill>
                <a:latin typeface="Segoe UI"/>
              </a:defRPr>
            </a:pPr>
            <a:r>
              <a:t>•  Rotary Nested Grader: Size sorting into 5 grades at 180 kg/h to ensure roasting at 270 °C without burning.</a:t>
            </a:r>
          </a:p>
          <a:p>
            <a:pPr>
              <a:spcAft>
                <a:spcPts val="1600"/>
              </a:spcAft>
              <a:defRPr sz="1800">
                <a:solidFill>
                  <a:srgbClr val="DCE1DE"/>
                </a:solidFill>
                <a:latin typeface="Segoe UI"/>
              </a:defRPr>
            </a:pPr>
            <a:r>
              <a:t>•  Manual Popping Cluster: Skilled traditional popping families compensated at ₹35/kg popped makhana.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251A"/>
        </a:solidFill>
        <a:effectLst/>
      </p:bgPr>
    </p:bg>
    <p:spTree>
      <p:nvGrpSpPr>
        <p:cNvPr id="1" name=""/>
        <p:cNvGrpSpPr/>
        <p:nvPr/>
      </p:nvGrpSpPr>
      <p:grpSpPr/>
      <p:sp>
        <p:nvSpPr>
          <p:cNvPr id="2" name="TextBox 1"/>
          <p:cNvSpPr txBox="1"/>
          <p:nvPr/>
        </p:nvSpPr>
        <p:spPr>
          <a:xfrm>
            <a:off x="457200" y="365760"/>
            <a:ext cx="7315200" cy="457200"/>
          </a:xfrm>
          <a:prstGeom prst="rect">
            <a:avLst/>
          </a:prstGeom>
          <a:noFill/>
        </p:spPr>
        <p:txBody>
          <a:bodyPr wrap="none">
            <a:spAutoFit/>
          </a:bodyPr>
          <a:lstStyle/>
          <a:p>
            <a:pPr>
              <a:defRPr sz="1100" b="1">
                <a:solidFill>
                  <a:srgbClr val="F5CB5C"/>
                </a:solidFill>
                <a:latin typeface="Segoe UI"/>
              </a:defRPr>
            </a:pPr>
            <a:r>
              <a:t>SLIDE 6 : PRODUCT INNOVATION &amp; CHEMISTRY</a:t>
            </a:r>
          </a:p>
        </p:txBody>
      </p:sp>
      <p:sp>
        <p:nvSpPr>
          <p:cNvPr id="3" name="TextBox 2"/>
          <p:cNvSpPr txBox="1"/>
          <p:nvPr/>
        </p:nvSpPr>
        <p:spPr>
          <a:xfrm>
            <a:off x="457200" y="731520"/>
            <a:ext cx="10972800" cy="731520"/>
          </a:xfrm>
          <a:prstGeom prst="rect">
            <a:avLst/>
          </a:prstGeom>
          <a:noFill/>
        </p:spPr>
        <p:txBody>
          <a:bodyPr wrap="square">
            <a:spAutoFit/>
          </a:bodyPr>
          <a:lstStyle/>
          <a:p>
            <a:pPr>
              <a:defRPr sz="3600" b="1">
                <a:solidFill>
                  <a:srgbClr val="FFFFFF"/>
                </a:solidFill>
                <a:latin typeface="Segoe UI"/>
              </a:defRPr>
            </a:pPr>
            <a:r>
              <a:t>Premium Functional Superfoods</a:t>
            </a:r>
          </a:p>
        </p:txBody>
      </p:sp>
      <p:sp>
        <p:nvSpPr>
          <p:cNvPr id="4" name="TextBox 3"/>
          <p:cNvSpPr txBox="1"/>
          <p:nvPr/>
        </p:nvSpPr>
        <p:spPr>
          <a:xfrm>
            <a:off x="457200" y="1463040"/>
            <a:ext cx="10972800" cy="457200"/>
          </a:xfrm>
          <a:prstGeom prst="rect">
            <a:avLst/>
          </a:prstGeom>
          <a:noFill/>
        </p:spPr>
        <p:txBody>
          <a:bodyPr wrap="none">
            <a:spAutoFit/>
          </a:bodyPr>
          <a:lstStyle/>
          <a:p>
            <a:pPr>
              <a:defRPr sz="1600" i="1">
                <a:solidFill>
                  <a:srgbClr val="F5CB5C"/>
                </a:solidFill>
                <a:latin typeface="Segoe UI"/>
              </a:defRPr>
            </a:pPr>
            <a:r>
              <a:t>Re-engineering Euryale ferox digestible starchy perisperm core</a:t>
            </a:r>
          </a:p>
        </p:txBody>
      </p:sp>
      <p:sp>
        <p:nvSpPr>
          <p:cNvPr id="5" name="TextBox 4"/>
          <p:cNvSpPr txBox="1"/>
          <p:nvPr/>
        </p:nvSpPr>
        <p:spPr>
          <a:xfrm>
            <a:off x="640080" y="2103120"/>
            <a:ext cx="10515600" cy="4114800"/>
          </a:xfrm>
          <a:prstGeom prst="rect">
            <a:avLst/>
          </a:prstGeom>
          <a:noFill/>
        </p:spPr>
        <p:txBody>
          <a:bodyPr wrap="square">
            <a:spAutoFit/>
          </a:bodyPr>
          <a:lstStyle/>
          <a:p>
            <a:pPr>
              <a:spcAft>
                <a:spcPts val="1600"/>
              </a:spcAft>
              <a:defRPr sz="1800">
                <a:solidFill>
                  <a:srgbClr val="DCE1DE"/>
                </a:solidFill>
                <a:latin typeface="Segoe UI"/>
              </a:defRPr>
            </a:pPr>
            <a:r>
              <a:t>•  Makhana Ragi Cookies: Rich in calcium (160mg/100g) and amino acids (Glutamine, Arginine) - 58% margin.</a:t>
            </a:r>
          </a:p>
          <a:p>
            <a:pPr>
              <a:spcAft>
                <a:spcPts val="1600"/>
              </a:spcAft>
              <a:defRPr sz="1800">
                <a:solidFill>
                  <a:srgbClr val="DCE1DE"/>
                </a:solidFill>
                <a:latin typeface="Segoe UI"/>
              </a:defRPr>
            </a:pPr>
            <a:r>
              <a:t>•  Weaning Baby Food (Shishu Aahar): Hypoallergenic formula with optimized 1.2:1 Ca:P ratio (62% margin).</a:t>
            </a:r>
          </a:p>
          <a:p>
            <a:pPr>
              <a:spcAft>
                <a:spcPts val="1600"/>
              </a:spcAft>
              <a:defRPr sz="1800">
                <a:solidFill>
                  <a:srgbClr val="DCE1DE"/>
                </a:solidFill>
                <a:latin typeface="Segoe UI"/>
              </a:defRPr>
            </a:pPr>
            <a:r>
              <a:t>•  Low-GI Starch Pasta: Extruded cold-gelatinized high-amylose starch pasta (52% margin).</a:t>
            </a:r>
          </a:p>
          <a:p>
            <a:pPr>
              <a:spcAft>
                <a:spcPts val="1600"/>
              </a:spcAft>
              <a:defRPr sz="1800">
                <a:solidFill>
                  <a:srgbClr val="DCE1DE"/>
                </a:solidFill>
                <a:latin typeface="Segoe UI"/>
              </a:defRPr>
            </a:pPr>
            <a:r>
              <a:t>•  Perisperm Value: Capitalizing on Euryale ferox starchy core's low fat (0.1%) and high protein (10-12%).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251A"/>
        </a:solidFill>
        <a:effectLst/>
      </p:bgPr>
    </p:bg>
    <p:spTree>
      <p:nvGrpSpPr>
        <p:cNvPr id="1" name=""/>
        <p:cNvGrpSpPr/>
        <p:nvPr/>
      </p:nvGrpSpPr>
      <p:grpSpPr/>
      <p:sp>
        <p:nvSpPr>
          <p:cNvPr id="2" name="TextBox 1"/>
          <p:cNvSpPr txBox="1"/>
          <p:nvPr/>
        </p:nvSpPr>
        <p:spPr>
          <a:xfrm>
            <a:off x="457200" y="365760"/>
            <a:ext cx="7315200" cy="457200"/>
          </a:xfrm>
          <a:prstGeom prst="rect">
            <a:avLst/>
          </a:prstGeom>
          <a:noFill/>
        </p:spPr>
        <p:txBody>
          <a:bodyPr wrap="none">
            <a:spAutoFit/>
          </a:bodyPr>
          <a:lstStyle/>
          <a:p>
            <a:pPr>
              <a:defRPr sz="1100" b="1">
                <a:solidFill>
                  <a:srgbClr val="F5CB5C"/>
                </a:solidFill>
                <a:latin typeface="Segoe UI"/>
              </a:defRPr>
            </a:pPr>
            <a:r>
              <a:t>SLIDE 7 : FINANCIAL DPR HIGHLIGHTS</a:t>
            </a:r>
          </a:p>
        </p:txBody>
      </p:sp>
      <p:sp>
        <p:nvSpPr>
          <p:cNvPr id="3" name="TextBox 2"/>
          <p:cNvSpPr txBox="1"/>
          <p:nvPr/>
        </p:nvSpPr>
        <p:spPr>
          <a:xfrm>
            <a:off x="457200" y="731520"/>
            <a:ext cx="10972800" cy="731520"/>
          </a:xfrm>
          <a:prstGeom prst="rect">
            <a:avLst/>
          </a:prstGeom>
          <a:noFill/>
        </p:spPr>
        <p:txBody>
          <a:bodyPr wrap="square">
            <a:spAutoFit/>
          </a:bodyPr>
          <a:lstStyle/>
          <a:p>
            <a:pPr>
              <a:defRPr sz="3600" b="1">
                <a:solidFill>
                  <a:srgbClr val="FFFFFF"/>
                </a:solidFill>
                <a:latin typeface="Segoe UI"/>
              </a:defRPr>
            </a:pPr>
            <a:r>
              <a:t>Year-1 Zero Machinery Profitability</a:t>
            </a:r>
          </a:p>
        </p:txBody>
      </p:sp>
      <p:sp>
        <p:nvSpPr>
          <p:cNvPr id="4" name="TextBox 3"/>
          <p:cNvSpPr txBox="1"/>
          <p:nvPr/>
        </p:nvSpPr>
        <p:spPr>
          <a:xfrm>
            <a:off x="457200" y="1463040"/>
            <a:ext cx="10972800" cy="457200"/>
          </a:xfrm>
          <a:prstGeom prst="rect">
            <a:avLst/>
          </a:prstGeom>
          <a:noFill/>
        </p:spPr>
        <p:txBody>
          <a:bodyPr wrap="none">
            <a:spAutoFit/>
          </a:bodyPr>
          <a:lstStyle/>
          <a:p>
            <a:pPr>
              <a:defRPr sz="1600" i="1">
                <a:solidFill>
                  <a:srgbClr val="F5CB5C"/>
                </a:solidFill>
                <a:latin typeface="Segoe UI"/>
              </a:defRPr>
            </a:pPr>
            <a:r>
              <a:t>A lean, bootstrapped operational ledger delivering immediate returns</a:t>
            </a:r>
          </a:p>
        </p:txBody>
      </p:sp>
      <p:sp>
        <p:nvSpPr>
          <p:cNvPr id="5" name="TextBox 4"/>
          <p:cNvSpPr txBox="1"/>
          <p:nvPr/>
        </p:nvSpPr>
        <p:spPr>
          <a:xfrm>
            <a:off x="640080" y="2103120"/>
            <a:ext cx="10515600" cy="4114800"/>
          </a:xfrm>
          <a:prstGeom prst="rect">
            <a:avLst/>
          </a:prstGeom>
          <a:noFill/>
        </p:spPr>
        <p:txBody>
          <a:bodyPr wrap="square">
            <a:spAutoFit/>
          </a:bodyPr>
          <a:lstStyle/>
          <a:p>
            <a:pPr>
              <a:spcAft>
                <a:spcPts val="1600"/>
              </a:spcAft>
              <a:defRPr sz="1800">
                <a:solidFill>
                  <a:srgbClr val="DCE1DE"/>
                </a:solidFill>
                <a:latin typeface="Segoe UI"/>
              </a:defRPr>
            </a:pPr>
            <a:r>
              <a:t>•  1-Hectare Cultivation: OPEX ₹1.2 Lakhs vs Revenue ₹4.2 Lakhs (₹3,00,000 Net Profit).</a:t>
            </a:r>
          </a:p>
          <a:p>
            <a:pPr>
              <a:spcAft>
                <a:spcPts val="1600"/>
              </a:spcAft>
              <a:defRPr sz="1800">
                <a:solidFill>
                  <a:srgbClr val="DCE1DE"/>
                </a:solidFill>
                <a:latin typeface="Segoe UI"/>
              </a:defRPr>
            </a:pPr>
            <a:r>
              <a:t>•  30-Ton Processing Hub: OPEX ₹48.5 Lakhs vs Revenue ₹57.9 Lakhs (₹9,44,500 Net Profit).</a:t>
            </a:r>
          </a:p>
          <a:p>
            <a:pPr>
              <a:spcAft>
                <a:spcPts val="1600"/>
              </a:spcAft>
              <a:defRPr sz="1800">
                <a:solidFill>
                  <a:srgbClr val="DCE1DE"/>
                </a:solidFill>
                <a:latin typeface="Segoe UI"/>
              </a:defRPr>
            </a:pPr>
            <a:r>
              <a:t>•  Consolidated Year-1 Profit: ₹12,44,500 achieved securely.</a:t>
            </a:r>
          </a:p>
          <a:p>
            <a:pPr>
              <a:spcAft>
                <a:spcPts val="1600"/>
              </a:spcAft>
              <a:defRPr sz="1800">
                <a:solidFill>
                  <a:srgbClr val="DCE1DE"/>
                </a:solidFill>
                <a:latin typeface="Segoe UI"/>
              </a:defRPr>
            </a:pPr>
            <a:r>
              <a:t>•  Zero Initial CAPEX: Outsourcing popping to skilled manual clusters keeps startup costs low.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251A"/>
        </a:solidFill>
        <a:effectLst/>
      </p:bgPr>
    </p:bg>
    <p:spTree>
      <p:nvGrpSpPr>
        <p:cNvPr id="1" name=""/>
        <p:cNvGrpSpPr/>
        <p:nvPr/>
      </p:nvGrpSpPr>
      <p:grpSpPr/>
      <p:sp>
        <p:nvSpPr>
          <p:cNvPr id="2" name="TextBox 1"/>
          <p:cNvSpPr txBox="1"/>
          <p:nvPr/>
        </p:nvSpPr>
        <p:spPr>
          <a:xfrm>
            <a:off x="457200" y="365760"/>
            <a:ext cx="7315200" cy="457200"/>
          </a:xfrm>
          <a:prstGeom prst="rect">
            <a:avLst/>
          </a:prstGeom>
          <a:noFill/>
        </p:spPr>
        <p:txBody>
          <a:bodyPr wrap="none">
            <a:spAutoFit/>
          </a:bodyPr>
          <a:lstStyle/>
          <a:p>
            <a:pPr>
              <a:defRPr sz="1100" b="1">
                <a:solidFill>
                  <a:srgbClr val="F5CB5C"/>
                </a:solidFill>
                <a:latin typeface="Segoe UI"/>
              </a:defRPr>
            </a:pPr>
            <a:r>
              <a:t>SLIDE 8 : THE 5-YEAR SCALING ROADMAP</a:t>
            </a:r>
          </a:p>
        </p:txBody>
      </p:sp>
      <p:sp>
        <p:nvSpPr>
          <p:cNvPr id="3" name="TextBox 2"/>
          <p:cNvSpPr txBox="1"/>
          <p:nvPr/>
        </p:nvSpPr>
        <p:spPr>
          <a:xfrm>
            <a:off x="457200" y="731520"/>
            <a:ext cx="10972800" cy="731520"/>
          </a:xfrm>
          <a:prstGeom prst="rect">
            <a:avLst/>
          </a:prstGeom>
          <a:noFill/>
        </p:spPr>
        <p:txBody>
          <a:bodyPr wrap="square">
            <a:spAutoFit/>
          </a:bodyPr>
          <a:lstStyle/>
          <a:p>
            <a:pPr>
              <a:defRPr sz="3600" b="1">
                <a:solidFill>
                  <a:srgbClr val="FFFFFF"/>
                </a:solidFill>
                <a:latin typeface="Segoe UI"/>
              </a:defRPr>
            </a:pPr>
            <a:r>
              <a:t>Phased Capital Expansion Blueprint</a:t>
            </a:r>
          </a:p>
        </p:txBody>
      </p:sp>
      <p:sp>
        <p:nvSpPr>
          <p:cNvPr id="4" name="TextBox 3"/>
          <p:cNvSpPr txBox="1"/>
          <p:nvPr/>
        </p:nvSpPr>
        <p:spPr>
          <a:xfrm>
            <a:off x="457200" y="1463040"/>
            <a:ext cx="10972800" cy="457200"/>
          </a:xfrm>
          <a:prstGeom prst="rect">
            <a:avLst/>
          </a:prstGeom>
          <a:noFill/>
        </p:spPr>
        <p:txBody>
          <a:bodyPr wrap="none">
            <a:spAutoFit/>
          </a:bodyPr>
          <a:lstStyle/>
          <a:p>
            <a:pPr>
              <a:defRPr sz="1600" i="1">
                <a:solidFill>
                  <a:srgbClr val="F5CB5C"/>
                </a:solidFill>
                <a:latin typeface="Segoe UI"/>
              </a:defRPr>
            </a:pPr>
            <a:r>
              <a:t>Leaping from manual artisan networks to high-throughput automation</a:t>
            </a:r>
          </a:p>
        </p:txBody>
      </p:sp>
      <p:sp>
        <p:nvSpPr>
          <p:cNvPr id="5" name="TextBox 4"/>
          <p:cNvSpPr txBox="1"/>
          <p:nvPr/>
        </p:nvSpPr>
        <p:spPr>
          <a:xfrm>
            <a:off x="640080" y="2103120"/>
            <a:ext cx="10515600" cy="4114800"/>
          </a:xfrm>
          <a:prstGeom prst="rect">
            <a:avLst/>
          </a:prstGeom>
          <a:noFill/>
        </p:spPr>
        <p:txBody>
          <a:bodyPr wrap="square">
            <a:spAutoFit/>
          </a:bodyPr>
          <a:lstStyle/>
          <a:p>
            <a:pPr>
              <a:spcAft>
                <a:spcPts val="1600"/>
              </a:spcAft>
              <a:defRPr sz="1800">
                <a:solidFill>
                  <a:srgbClr val="DCE1DE"/>
                </a:solidFill>
                <a:latin typeface="Segoe UI"/>
              </a:defRPr>
            </a:pPr>
            <a:r>
              <a:t>•  Year 1-2: Establish manual processing hubs, secure organic certificates, and expand sourcing.</a:t>
            </a:r>
          </a:p>
          <a:p>
            <a:pPr>
              <a:spcAft>
                <a:spcPts val="1600"/>
              </a:spcAft>
              <a:defRPr sz="1800">
                <a:solidFill>
                  <a:srgbClr val="DCE1DE"/>
                </a:solidFill>
                <a:latin typeface="Segoe UI"/>
              </a:defRPr>
            </a:pPr>
            <a:r>
              <a:t>•  Year 3: Raise institutional funding to build a 5-ton/day fully mechanized popping plant.</a:t>
            </a:r>
          </a:p>
          <a:p>
            <a:pPr>
              <a:spcAft>
                <a:spcPts val="1600"/>
              </a:spcAft>
              <a:defRPr sz="1800">
                <a:solidFill>
                  <a:srgbClr val="DCE1DE"/>
                </a:solidFill>
                <a:latin typeface="Segoe UI"/>
              </a:defRPr>
            </a:pPr>
            <a:r>
              <a:t>•  Year 4: Launch direct-to-consumer brand lines and expand product lines.</a:t>
            </a:r>
          </a:p>
          <a:p>
            <a:pPr>
              <a:spcAft>
                <a:spcPts val="1600"/>
              </a:spcAft>
              <a:defRPr sz="1800">
                <a:solidFill>
                  <a:srgbClr val="DCE1DE"/>
                </a:solidFill>
                <a:latin typeface="Segoe UI"/>
              </a:defRPr>
            </a:pPr>
            <a:r>
              <a:t>•  Year 5: Secure international export markets (US, EU, GCC) and achieve circular zero-waste.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251A"/>
        </a:solidFill>
        <a:effectLst/>
      </p:bgPr>
    </p:bg>
    <p:spTree>
      <p:nvGrpSpPr>
        <p:cNvPr id="1" name=""/>
        <p:cNvGrpSpPr/>
        <p:nvPr/>
      </p:nvGrpSpPr>
      <p:grpSpPr/>
      <p:sp>
        <p:nvSpPr>
          <p:cNvPr id="2" name="TextBox 1"/>
          <p:cNvSpPr txBox="1"/>
          <p:nvPr/>
        </p:nvSpPr>
        <p:spPr>
          <a:xfrm>
            <a:off x="457200" y="365760"/>
            <a:ext cx="7315200" cy="457200"/>
          </a:xfrm>
          <a:prstGeom prst="rect">
            <a:avLst/>
          </a:prstGeom>
          <a:noFill/>
        </p:spPr>
        <p:txBody>
          <a:bodyPr wrap="none">
            <a:spAutoFit/>
          </a:bodyPr>
          <a:lstStyle/>
          <a:p>
            <a:pPr>
              <a:defRPr sz="1100" b="1">
                <a:solidFill>
                  <a:srgbClr val="F5CB5C"/>
                </a:solidFill>
                <a:latin typeface="Segoe UI"/>
              </a:defRPr>
            </a:pPr>
            <a:r>
              <a:t>SLIDE 9 : RISK &amp; CLIMATE RESILIENCE</a:t>
            </a:r>
          </a:p>
        </p:txBody>
      </p:sp>
      <p:sp>
        <p:nvSpPr>
          <p:cNvPr id="3" name="TextBox 2"/>
          <p:cNvSpPr txBox="1"/>
          <p:nvPr/>
        </p:nvSpPr>
        <p:spPr>
          <a:xfrm>
            <a:off x="457200" y="731520"/>
            <a:ext cx="10972800" cy="731520"/>
          </a:xfrm>
          <a:prstGeom prst="rect">
            <a:avLst/>
          </a:prstGeom>
          <a:noFill/>
        </p:spPr>
        <p:txBody>
          <a:bodyPr wrap="square">
            <a:spAutoFit/>
          </a:bodyPr>
          <a:lstStyle/>
          <a:p>
            <a:pPr>
              <a:defRPr sz="3600" b="1">
                <a:solidFill>
                  <a:srgbClr val="FFFFFF"/>
                </a:solidFill>
                <a:latin typeface="Segoe UI"/>
              </a:defRPr>
            </a:pPr>
            <a:r>
              <a:t>Climate-Adaptive Agricultural Infrastructure</a:t>
            </a:r>
          </a:p>
        </p:txBody>
      </p:sp>
      <p:sp>
        <p:nvSpPr>
          <p:cNvPr id="4" name="TextBox 3"/>
          <p:cNvSpPr txBox="1"/>
          <p:nvPr/>
        </p:nvSpPr>
        <p:spPr>
          <a:xfrm>
            <a:off x="457200" y="1463040"/>
            <a:ext cx="10972800" cy="457200"/>
          </a:xfrm>
          <a:prstGeom prst="rect">
            <a:avLst/>
          </a:prstGeom>
          <a:noFill/>
        </p:spPr>
        <p:txBody>
          <a:bodyPr wrap="none">
            <a:spAutoFit/>
          </a:bodyPr>
          <a:lstStyle/>
          <a:p>
            <a:pPr>
              <a:defRPr sz="1600" i="1">
                <a:solidFill>
                  <a:srgbClr val="F5CB5C"/>
                </a:solidFill>
                <a:latin typeface="Segoe UI"/>
              </a:defRPr>
            </a:pPr>
            <a:r>
              <a:t>Engineering field stability against monsoons and dry seasons</a:t>
            </a:r>
          </a:p>
        </p:txBody>
      </p:sp>
      <p:sp>
        <p:nvSpPr>
          <p:cNvPr id="5" name="TextBox 4"/>
          <p:cNvSpPr txBox="1"/>
          <p:nvPr/>
        </p:nvSpPr>
        <p:spPr>
          <a:xfrm>
            <a:off x="640080" y="2103120"/>
            <a:ext cx="10515600" cy="4114800"/>
          </a:xfrm>
          <a:prstGeom prst="rect">
            <a:avLst/>
          </a:prstGeom>
          <a:noFill/>
        </p:spPr>
        <p:txBody>
          <a:bodyPr wrap="square">
            <a:spAutoFit/>
          </a:bodyPr>
          <a:lstStyle/>
          <a:p>
            <a:pPr>
              <a:spcAft>
                <a:spcPts val="1600"/>
              </a:spcAft>
              <a:defRPr sz="1800">
                <a:solidFill>
                  <a:srgbClr val="DCE1DE"/>
                </a:solidFill>
                <a:latin typeface="Segoe UI"/>
              </a:defRPr>
            </a:pPr>
            <a:r>
              <a:t>•  Clay-Lined Perimeter Bunding: Prevents lateral water seepage, maintaining soil moisture.</a:t>
            </a:r>
          </a:p>
          <a:p>
            <a:pPr>
              <a:spcAft>
                <a:spcPts val="1600"/>
              </a:spcAft>
              <a:defRPr sz="1800">
                <a:solidFill>
                  <a:srgbClr val="DCE1DE"/>
                </a:solidFill>
                <a:latin typeface="Segoe UI"/>
              </a:defRPr>
            </a:pPr>
            <a:r>
              <a:t>•  Solar Drip &amp; Fill Pumps: Automated irrigation control during summer droughts.</a:t>
            </a:r>
          </a:p>
          <a:p>
            <a:pPr>
              <a:spcAft>
                <a:spcPts val="1600"/>
              </a:spcAft>
              <a:defRPr sz="1800">
                <a:solidFill>
                  <a:srgbClr val="DCE1DE"/>
                </a:solidFill>
                <a:latin typeface="Segoe UI"/>
              </a:defRPr>
            </a:pPr>
            <a:r>
              <a:t>•  Botanical Protection: Biocontrol agents and garlic-chilli sprays replace synthetic chemistry.</a:t>
            </a:r>
          </a:p>
          <a:p>
            <a:pPr>
              <a:spcAft>
                <a:spcPts val="1600"/>
              </a:spcAft>
              <a:defRPr sz="1800">
                <a:solidFill>
                  <a:srgbClr val="DCE1DE"/>
                </a:solidFill>
                <a:latin typeface="Segoe UI"/>
              </a:defRPr>
            </a:pPr>
            <a:r>
              <a:t>•  Financial Protection: Pre-season price agreements and multi-peril crop insurance.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251A"/>
        </a:solidFill>
        <a:effectLst/>
      </p:bgPr>
    </p:bg>
    <p:spTree>
      <p:nvGrpSpPr>
        <p:cNvPr id="1" name=""/>
        <p:cNvGrpSpPr/>
        <p:nvPr/>
      </p:nvGrpSpPr>
      <p:grpSpPr/>
      <p:sp>
        <p:nvSpPr>
          <p:cNvPr id="2" name="TextBox 1"/>
          <p:cNvSpPr txBox="1"/>
          <p:nvPr/>
        </p:nvSpPr>
        <p:spPr>
          <a:xfrm>
            <a:off x="457200" y="365760"/>
            <a:ext cx="7315200" cy="457200"/>
          </a:xfrm>
          <a:prstGeom prst="rect">
            <a:avLst/>
          </a:prstGeom>
          <a:noFill/>
        </p:spPr>
        <p:txBody>
          <a:bodyPr wrap="none">
            <a:spAutoFit/>
          </a:bodyPr>
          <a:lstStyle/>
          <a:p>
            <a:pPr>
              <a:defRPr sz="1100" b="1">
                <a:solidFill>
                  <a:srgbClr val="F5CB5C"/>
                </a:solidFill>
                <a:latin typeface="Segoe UI"/>
              </a:defRPr>
            </a:pPr>
            <a:r>
              <a:t>SLIDE 10 : DIGITAL INTEGRATION</a:t>
            </a:r>
          </a:p>
        </p:txBody>
      </p:sp>
      <p:sp>
        <p:nvSpPr>
          <p:cNvPr id="3" name="TextBox 2"/>
          <p:cNvSpPr txBox="1"/>
          <p:nvPr/>
        </p:nvSpPr>
        <p:spPr>
          <a:xfrm>
            <a:off x="457200" y="731520"/>
            <a:ext cx="10972800" cy="731520"/>
          </a:xfrm>
          <a:prstGeom prst="rect">
            <a:avLst/>
          </a:prstGeom>
          <a:noFill/>
        </p:spPr>
        <p:txBody>
          <a:bodyPr wrap="square">
            <a:spAutoFit/>
          </a:bodyPr>
          <a:lstStyle/>
          <a:p>
            <a:pPr>
              <a:defRPr sz="3600" b="1">
                <a:solidFill>
                  <a:srgbClr val="FFFFFF"/>
                </a:solidFill>
                <a:latin typeface="Segoe UI"/>
              </a:defRPr>
            </a:pPr>
            <a:r>
              <a:t>Eliminating Middlemen via Bihar Bazar</a:t>
            </a:r>
          </a:p>
        </p:txBody>
      </p:sp>
      <p:sp>
        <p:nvSpPr>
          <p:cNvPr id="4" name="TextBox 3"/>
          <p:cNvSpPr txBox="1"/>
          <p:nvPr/>
        </p:nvSpPr>
        <p:spPr>
          <a:xfrm>
            <a:off x="457200" y="1463040"/>
            <a:ext cx="10972800" cy="457200"/>
          </a:xfrm>
          <a:prstGeom prst="rect">
            <a:avLst/>
          </a:prstGeom>
          <a:noFill/>
        </p:spPr>
        <p:txBody>
          <a:bodyPr wrap="none">
            <a:spAutoFit/>
          </a:bodyPr>
          <a:lstStyle/>
          <a:p>
            <a:pPr>
              <a:defRPr sz="1600" i="1">
                <a:solidFill>
                  <a:srgbClr val="F5CB5C"/>
                </a:solidFill>
                <a:latin typeface="Segoe UI"/>
              </a:defRPr>
            </a:pPr>
            <a:r>
              <a:t>Closing localized farmer literacy gaps and structural supply-chain asymmetry</a:t>
            </a:r>
          </a:p>
        </p:txBody>
      </p:sp>
      <p:sp>
        <p:nvSpPr>
          <p:cNvPr id="5" name="TextBox 4"/>
          <p:cNvSpPr txBox="1"/>
          <p:nvPr/>
        </p:nvSpPr>
        <p:spPr>
          <a:xfrm>
            <a:off x="640080" y="2103120"/>
            <a:ext cx="10515600" cy="4114800"/>
          </a:xfrm>
          <a:prstGeom prst="rect">
            <a:avLst/>
          </a:prstGeom>
          <a:noFill/>
        </p:spPr>
        <p:txBody>
          <a:bodyPr wrap="square">
            <a:spAutoFit/>
          </a:bodyPr>
          <a:lstStyle/>
          <a:p>
            <a:pPr>
              <a:spcAft>
                <a:spcPts val="1600"/>
              </a:spcAft>
              <a:defRPr sz="1800">
                <a:solidFill>
                  <a:srgbClr val="DCE1DE"/>
                </a:solidFill>
                <a:latin typeface="Segoe UI"/>
              </a:defRPr>
            </a:pPr>
            <a:r>
              <a:t>•  Direct Web Integration: Listing on the Bihar Bazar platform (bihar-bazaar.vercel.app).</a:t>
            </a:r>
          </a:p>
          <a:p>
            <a:pPr>
              <a:spcAft>
                <a:spcPts val="1600"/>
              </a:spcAft>
              <a:defRPr sz="1800">
                <a:solidFill>
                  <a:srgbClr val="DCE1DE"/>
                </a:solidFill>
                <a:latin typeface="Segoe UI"/>
              </a:defRPr>
            </a:pPr>
            <a:r>
              <a:t>•  Voice &amp; SMS Portals: Direct mobile messaging bypasses local digital and literacy gaps.</a:t>
            </a:r>
          </a:p>
          <a:p>
            <a:pPr>
              <a:spcAft>
                <a:spcPts val="1600"/>
              </a:spcAft>
              <a:defRPr sz="1800">
                <a:solidFill>
                  <a:srgbClr val="DCE1DE"/>
                </a:solidFill>
                <a:latin typeface="Segoe UI"/>
              </a:defRPr>
            </a:pPr>
            <a:r>
              <a:t>•  Transparent Price Engine: Real-time grade-wise pricing determined by automated sieve sorting.</a:t>
            </a:r>
          </a:p>
          <a:p>
            <a:pPr>
              <a:spcAft>
                <a:spcPts val="1600"/>
              </a:spcAft>
              <a:defRPr sz="1800">
                <a:solidFill>
                  <a:srgbClr val="DCE1DE"/>
                </a:solidFill>
                <a:latin typeface="Segoe UI"/>
              </a:defRPr>
            </a:pPr>
            <a:r>
              <a:t>•  Traceability: QR-code tracking from Bihar fields directly to premium retail shelves.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251A"/>
        </a:solidFill>
        <a:effectLst/>
      </p:bgPr>
    </p:bg>
    <p:spTree>
      <p:nvGrpSpPr>
        <p:cNvPr id="1" name=""/>
        <p:cNvGrpSpPr/>
        <p:nvPr/>
      </p:nvGrpSpPr>
      <p:grpSpPr/>
      <p:sp>
        <p:nvSpPr>
          <p:cNvPr id="2" name="TextBox 1"/>
          <p:cNvSpPr txBox="1"/>
          <p:nvPr/>
        </p:nvSpPr>
        <p:spPr>
          <a:xfrm>
            <a:off x="457200" y="365760"/>
            <a:ext cx="7315200" cy="457200"/>
          </a:xfrm>
          <a:prstGeom prst="rect">
            <a:avLst/>
          </a:prstGeom>
          <a:noFill/>
        </p:spPr>
        <p:txBody>
          <a:bodyPr wrap="none">
            <a:spAutoFit/>
          </a:bodyPr>
          <a:lstStyle/>
          <a:p>
            <a:pPr>
              <a:defRPr sz="1100" b="1">
                <a:solidFill>
                  <a:srgbClr val="F5CB5C"/>
                </a:solidFill>
                <a:latin typeface="Segoe UI"/>
              </a:defRPr>
            </a:pPr>
            <a:r>
              <a:t>SLIDE 11 : GOVERNMENT SUPPORT &amp; SCHEMES</a:t>
            </a:r>
          </a:p>
        </p:txBody>
      </p:sp>
      <p:sp>
        <p:nvSpPr>
          <p:cNvPr id="3" name="TextBox 2"/>
          <p:cNvSpPr txBox="1"/>
          <p:nvPr/>
        </p:nvSpPr>
        <p:spPr>
          <a:xfrm>
            <a:off x="457200" y="731520"/>
            <a:ext cx="10972800" cy="731520"/>
          </a:xfrm>
          <a:prstGeom prst="rect">
            <a:avLst/>
          </a:prstGeom>
          <a:noFill/>
        </p:spPr>
        <p:txBody>
          <a:bodyPr wrap="square">
            <a:spAutoFit/>
          </a:bodyPr>
          <a:lstStyle/>
          <a:p>
            <a:pPr>
              <a:defRPr sz="3600" b="1">
                <a:solidFill>
                  <a:srgbClr val="FFFFFF"/>
                </a:solidFill>
                <a:latin typeface="Segoe UI"/>
              </a:defRPr>
            </a:pPr>
            <a:r>
              <a:t>PMFME &amp; Mudra Capital Alignment</a:t>
            </a:r>
          </a:p>
        </p:txBody>
      </p:sp>
      <p:sp>
        <p:nvSpPr>
          <p:cNvPr id="4" name="TextBox 3"/>
          <p:cNvSpPr txBox="1"/>
          <p:nvPr/>
        </p:nvSpPr>
        <p:spPr>
          <a:xfrm>
            <a:off x="457200" y="1463040"/>
            <a:ext cx="10972800" cy="457200"/>
          </a:xfrm>
          <a:prstGeom prst="rect">
            <a:avLst/>
          </a:prstGeom>
          <a:noFill/>
        </p:spPr>
        <p:txBody>
          <a:bodyPr wrap="none">
            <a:spAutoFit/>
          </a:bodyPr>
          <a:lstStyle/>
          <a:p>
            <a:pPr>
              <a:defRPr sz="1600" i="1">
                <a:solidFill>
                  <a:srgbClr val="F5CB5C"/>
                </a:solidFill>
                <a:latin typeface="Segoe UI"/>
              </a:defRPr>
            </a:pPr>
            <a:r>
              <a:t>Leveraging central subsidies and interest subventions</a:t>
            </a:r>
          </a:p>
        </p:txBody>
      </p:sp>
      <p:sp>
        <p:nvSpPr>
          <p:cNvPr id="5" name="TextBox 4"/>
          <p:cNvSpPr txBox="1"/>
          <p:nvPr/>
        </p:nvSpPr>
        <p:spPr>
          <a:xfrm>
            <a:off x="640080" y="2103120"/>
            <a:ext cx="10515600" cy="4114800"/>
          </a:xfrm>
          <a:prstGeom prst="rect">
            <a:avLst/>
          </a:prstGeom>
          <a:noFill/>
        </p:spPr>
        <p:txBody>
          <a:bodyPr wrap="square">
            <a:spAutoFit/>
          </a:bodyPr>
          <a:lstStyle/>
          <a:p>
            <a:pPr>
              <a:spcAft>
                <a:spcPts val="1600"/>
              </a:spcAft>
              <a:defRPr sz="1800">
                <a:solidFill>
                  <a:srgbClr val="DCE1DE"/>
                </a:solidFill>
                <a:latin typeface="Segoe UI"/>
              </a:defRPr>
            </a:pPr>
            <a:r>
              <a:t>•  PMFME Capital Subsidy: Claiming 35% capital grant (up to ₹10 Lakhs limit).</a:t>
            </a:r>
          </a:p>
          <a:p>
            <a:pPr>
              <a:spcAft>
                <a:spcPts val="1600"/>
              </a:spcAft>
              <a:defRPr sz="1800">
                <a:solidFill>
                  <a:srgbClr val="DCE1DE"/>
                </a:solidFill>
                <a:latin typeface="Segoe UI"/>
              </a:defRPr>
            </a:pPr>
            <a:r>
              <a:t>•  Mudra Bank Funding: Collateral-free low-interest working capital credit lines.</a:t>
            </a:r>
          </a:p>
          <a:p>
            <a:pPr>
              <a:spcAft>
                <a:spcPts val="1600"/>
              </a:spcAft>
              <a:defRPr sz="1800">
                <a:solidFill>
                  <a:srgbClr val="DCE1DE"/>
                </a:solidFill>
                <a:latin typeface="Segoe UI"/>
              </a:defRPr>
            </a:pPr>
            <a:r>
              <a:t>•  Agriculture Infrastructure Fund: 3% interest subvention on long-term infrastructure loans.</a:t>
            </a:r>
          </a:p>
          <a:p>
            <a:pPr>
              <a:spcAft>
                <a:spcPts val="1600"/>
              </a:spcAft>
              <a:defRPr sz="1800">
                <a:solidFill>
                  <a:srgbClr val="DCE1DE"/>
                </a:solidFill>
                <a:latin typeface="Segoe UI"/>
              </a:defRPr>
            </a:pPr>
            <a:r>
              <a:t>•  State Policy Rebates: State industrial incentives including power exemptions and tax benefits.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251A"/>
        </a:solidFill>
        <a:effectLst/>
      </p:bgPr>
    </p:bg>
    <p:spTree>
      <p:nvGrpSpPr>
        <p:cNvPr id="1" name=""/>
        <p:cNvGrpSpPr/>
        <p:nvPr/>
      </p:nvGrpSpPr>
      <p:grpSpPr/>
      <p:sp>
        <p:nvSpPr>
          <p:cNvPr id="2" name="TextBox 1"/>
          <p:cNvSpPr txBox="1"/>
          <p:nvPr/>
        </p:nvSpPr>
        <p:spPr>
          <a:xfrm>
            <a:off x="457200" y="365760"/>
            <a:ext cx="7315200" cy="457200"/>
          </a:xfrm>
          <a:prstGeom prst="rect">
            <a:avLst/>
          </a:prstGeom>
          <a:noFill/>
        </p:spPr>
        <p:txBody>
          <a:bodyPr wrap="none">
            <a:spAutoFit/>
          </a:bodyPr>
          <a:lstStyle/>
          <a:p>
            <a:pPr>
              <a:defRPr sz="1100" b="1">
                <a:solidFill>
                  <a:srgbClr val="F5CB5C"/>
                </a:solidFill>
                <a:latin typeface="Segoe UI"/>
              </a:defRPr>
            </a:pPr>
            <a:r>
              <a:t>SLIDE 12 : THE INVESTMENT ASK &amp; RETURNS</a:t>
            </a:r>
          </a:p>
        </p:txBody>
      </p:sp>
      <p:sp>
        <p:nvSpPr>
          <p:cNvPr id="3" name="TextBox 2"/>
          <p:cNvSpPr txBox="1"/>
          <p:nvPr/>
        </p:nvSpPr>
        <p:spPr>
          <a:xfrm>
            <a:off x="457200" y="731520"/>
            <a:ext cx="10972800" cy="731520"/>
          </a:xfrm>
          <a:prstGeom prst="rect">
            <a:avLst/>
          </a:prstGeom>
          <a:noFill/>
        </p:spPr>
        <p:txBody>
          <a:bodyPr wrap="square">
            <a:spAutoFit/>
          </a:bodyPr>
          <a:lstStyle/>
          <a:p>
            <a:pPr>
              <a:defRPr sz="3600" b="1">
                <a:solidFill>
                  <a:srgbClr val="FFFFFF"/>
                </a:solidFill>
                <a:latin typeface="Segoe UI"/>
              </a:defRPr>
            </a:pPr>
            <a:r>
              <a:t>Capital Proposition &amp; Socio-Economic Impact</a:t>
            </a:r>
          </a:p>
        </p:txBody>
      </p:sp>
      <p:sp>
        <p:nvSpPr>
          <p:cNvPr id="4" name="TextBox 3"/>
          <p:cNvSpPr txBox="1"/>
          <p:nvPr/>
        </p:nvSpPr>
        <p:spPr>
          <a:xfrm>
            <a:off x="457200" y="1463040"/>
            <a:ext cx="10972800" cy="457200"/>
          </a:xfrm>
          <a:prstGeom prst="rect">
            <a:avLst/>
          </a:prstGeom>
          <a:noFill/>
        </p:spPr>
        <p:txBody>
          <a:bodyPr wrap="none">
            <a:spAutoFit/>
          </a:bodyPr>
          <a:lstStyle/>
          <a:p>
            <a:pPr>
              <a:defRPr sz="1600" i="1">
                <a:solidFill>
                  <a:srgbClr val="F5CB5C"/>
                </a:solidFill>
                <a:latin typeface="Segoe UI"/>
              </a:defRPr>
            </a:pPr>
            <a:r>
              <a:t>High financial yields combined with sustainable rural development</a:t>
            </a:r>
          </a:p>
        </p:txBody>
      </p:sp>
      <p:sp>
        <p:nvSpPr>
          <p:cNvPr id="5" name="TextBox 4"/>
          <p:cNvSpPr txBox="1"/>
          <p:nvPr/>
        </p:nvSpPr>
        <p:spPr>
          <a:xfrm>
            <a:off x="640080" y="2103120"/>
            <a:ext cx="10515600" cy="4114800"/>
          </a:xfrm>
          <a:prstGeom prst="rect">
            <a:avLst/>
          </a:prstGeom>
          <a:noFill/>
        </p:spPr>
        <p:txBody>
          <a:bodyPr wrap="square">
            <a:spAutoFit/>
          </a:bodyPr>
          <a:lstStyle/>
          <a:p>
            <a:pPr>
              <a:spcAft>
                <a:spcPts val="1600"/>
              </a:spcAft>
              <a:defRPr sz="1800">
                <a:solidFill>
                  <a:srgbClr val="DCE1DE"/>
                </a:solidFill>
                <a:latin typeface="Segoe UI"/>
              </a:defRPr>
            </a:pPr>
            <a:r>
              <a:t>•  The Ask: ₹50 Lakhs institutional funding (mix of 70% bank debt and 30% founder equity).</a:t>
            </a:r>
          </a:p>
          <a:p>
            <a:pPr>
              <a:spcAft>
                <a:spcPts val="1600"/>
              </a:spcAft>
              <a:defRPr sz="1800">
                <a:solidFill>
                  <a:srgbClr val="DCE1DE"/>
                </a:solidFill>
                <a:latin typeface="Segoe UI"/>
              </a:defRPr>
            </a:pPr>
            <a:r>
              <a:t>•  Key Returns: Projected 5-Year Financial IRR of 38.6% with a 2.4-year Payback Period.</a:t>
            </a:r>
          </a:p>
          <a:p>
            <a:pPr>
              <a:spcAft>
                <a:spcPts val="1600"/>
              </a:spcAft>
              <a:defRPr sz="1800">
                <a:solidFill>
                  <a:srgbClr val="DCE1DE"/>
                </a:solidFill>
                <a:latin typeface="Segoe UI"/>
              </a:defRPr>
            </a:pPr>
            <a:r>
              <a:t>•  Social Impact: Steady wages for 120+ rural women popping artisans and 250+ farmers.</a:t>
            </a:r>
          </a:p>
          <a:p>
            <a:pPr>
              <a:spcAft>
                <a:spcPts val="1600"/>
              </a:spcAft>
              <a:defRPr sz="1800">
                <a:solidFill>
                  <a:srgbClr val="DCE1DE"/>
                </a:solidFill>
                <a:latin typeface="Segoe UI"/>
              </a:defRPr>
            </a:pPr>
            <a:r>
              <a:t>•  Exit Options: Strategic acquisition by fast-growing national agritech brands.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